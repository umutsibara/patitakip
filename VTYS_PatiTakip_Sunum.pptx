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tr-T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7" d="100"/>
          <a:sy n="107" d="100"/>
        </p:scale>
        <p:origin x="714" y="12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2235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60675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95144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70671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271121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10606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08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45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716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A0F20D-B28D-19E1-7C03-B2C8B7E890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306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3588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146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059544-7FA5-C931-0C12-C8F306300A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02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428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524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797BFC-8B14-8B06-4183-604E6EEFF5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743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40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57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B766C5-A8D1-D65A-9413-066BFA8CEA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265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175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797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90A6FB-75A0-7C00-7777-80ECAC9E08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38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641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15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16BFB7-BE56-81F5-4CA6-D735A10CBB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50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485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08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4B457B-A9DE-6A4C-601C-2732377958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92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635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93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2C5FB-D99B-AE99-896C-62175B4DD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916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429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101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114EF-8649-9C42-8928-D01BD89092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98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137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964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CD55D9-6960-0DB8-4BD8-A3D277447F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854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2474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874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7434FE-CF25-755D-20E4-43A19F1F9E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351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341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829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81DDF-3581-3B88-9690-A9F57ECA0B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557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26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576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948E16-9643-0AA2-4E06-3DFF0EC1AB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360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432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782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A2B873-BC3C-79DF-F3B9-D134A427C1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53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01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424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DC6A86-416C-EEA7-5BFA-BC4E247C14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842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936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361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55C333-B5D5-35E9-6403-7627BFFB75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Başlık Slayd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593573" name="Başlık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908203556" name="Alt Başlık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tr-TR"/>
              <a:t>Asıl alt başlık stilini düzenlemek için tıklayın</a:t>
            </a:r>
            <a:endParaRPr/>
          </a:p>
        </p:txBody>
      </p:sp>
      <p:sp>
        <p:nvSpPr>
          <p:cNvPr id="1458574790" name="Veri Yer Tutucusu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141508761" name="Alt Bilgi Yer Tutucusu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783851072" name="Slayt Numarası Yer Tutucus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aşlık ve İçeri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382621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746228486" name="İçerik Yer Tutucus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1938922379" name="Veri Yer Tutucusu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981858941" name="Alt Bilgi Yer Tutucusu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334195047" name="Slayt Numarası Yer Tutucus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Bölüm Üst Bilgis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374693" name="Başlık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108690544" name="Metin Yer Tutucusu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</p:txBody>
      </p:sp>
      <p:sp>
        <p:nvSpPr>
          <p:cNvPr id="1876106170" name="Veri Yer Tutucusu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759813448" name="Alt Bilgi Yer Tutucusu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978303629" name="Slayt Numarası Yer Tutucus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İki İçeri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804678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98421246" name="İçerik Yer Tutucus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635525136" name="İçerik Yer Tutucus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986615772" name="Veri Yer Tutucusu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219693720" name="Alt Bilgi Yer Tutucusu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332023121" name="Slayt Numarası Yer Tutucus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Karşılaştırm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143637" name="Başlık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617818122" name="Metin Yer Tutucusu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</p:txBody>
      </p:sp>
      <p:sp>
        <p:nvSpPr>
          <p:cNvPr id="1739407425" name="İçerik Yer Tutucus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1375325692" name="Metin Yer Tutucusu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</p:txBody>
      </p:sp>
      <p:sp>
        <p:nvSpPr>
          <p:cNvPr id="364726561" name="İçerik Yer Tutucus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467171662" name="Veri Yer Tutucusu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17139530" name="Alt Bilgi Yer Tutucusu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201138515" name="Slayt Numarası Yer Tutucusu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Yalnızca Başlı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097109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795163817" name="Veri Yer Tutucusu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2077934175" name="Alt Bilgi Yer Tutucusu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866428533" name="Slayt Numarası Yer Tutucusu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oş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110569" name="Veri Yer Tutucusu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974157147" name="Alt Bilgi Yer Tutucusu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587740445" name="Slayt Numarası Yer Tutucusu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Başlıklı İçeri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235908" name="Başlık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719686802" name="İçerik Yer Tutucus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477594192" name="Metin Yer Tutucusu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</p:txBody>
      </p:sp>
      <p:sp>
        <p:nvSpPr>
          <p:cNvPr id="1706523630" name="Veri Yer Tutucusu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682829162" name="Alt Bilgi Yer Tutucusu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234001923" name="Slayt Numarası Yer Tutucus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aşlıklı Resi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415011" name="Başlık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240354060" name="Resim Yer Tutucusu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tr-TR"/>
          </a:p>
        </p:txBody>
      </p:sp>
      <p:sp>
        <p:nvSpPr>
          <p:cNvPr id="2004953944" name="Metin Yer Tutucusu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</p:txBody>
      </p:sp>
      <p:sp>
        <p:nvSpPr>
          <p:cNvPr id="844185736" name="Veri Yer Tutucusu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433966552" name="Alt Bilgi Yer Tutucusu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958605193" name="Slayt Numarası Yer Tutucus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Başlık ve Dikey Met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949055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532628178" name="Dikey Metin Yer Tutucusu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536375357" name="Veri Yer Tutucusu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261170277" name="Alt Bilgi Yer Tutucusu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1694603915" name="Slayt Numarası Yer Tutucus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Dikey Başlık ve Met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26891" name="Dikey Başlık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1582660701" name="Dikey Metin Yer Tutucusu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1263707343" name="Veri Yer Tutucusu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1954202215" name="Alt Bilgi Yer Tutucusu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947579266" name="Slayt Numarası Yer Tutucus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pattFill prst="pct5">
          <a:fgClr>
            <a:schemeClr val="accent1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868841" name="Başlık Yer Tutucusu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937136786" name="Metin Yer Tutucusu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tr-TR"/>
              <a:t>Asıl metin stillerini düzenlemek için tıklayın</a:t>
            </a:r>
            <a:endParaRPr/>
          </a:p>
          <a:p>
            <a:pPr lvl="1">
              <a:defRPr/>
            </a:pPr>
            <a:r>
              <a:rPr lang="tr-TR"/>
              <a:t>İkinci düzey</a:t>
            </a:r>
            <a:endParaRPr/>
          </a:p>
          <a:p>
            <a:pPr lvl="2">
              <a:defRPr/>
            </a:pPr>
            <a:r>
              <a:rPr lang="tr-TR"/>
              <a:t>Üçüncü düzey</a:t>
            </a:r>
            <a:endParaRPr/>
          </a:p>
          <a:p>
            <a:pPr lvl="3">
              <a:defRPr/>
            </a:pPr>
            <a:r>
              <a:rPr lang="tr-TR"/>
              <a:t>Dördüncü düzey</a:t>
            </a:r>
            <a:endParaRPr/>
          </a:p>
          <a:p>
            <a:pPr lvl="4">
              <a:defRPr/>
            </a:pPr>
            <a:r>
              <a:rPr lang="tr-TR"/>
              <a:t>Beşinci düzey</a:t>
            </a:r>
            <a:endParaRPr/>
          </a:p>
        </p:txBody>
      </p:sp>
      <p:sp>
        <p:nvSpPr>
          <p:cNvPr id="1480174460" name="Veri Yer Tutucusu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E5EFBC9-785F-44AE-920F-AF9711AA82D2}" type="datetimeFigureOut">
              <a:rPr lang="tr-TR"/>
              <a:t>19.12.2025</a:t>
            </a:fld>
            <a:endParaRPr lang="tr-TR"/>
          </a:p>
        </p:txBody>
      </p:sp>
      <p:sp>
        <p:nvSpPr>
          <p:cNvPr id="485138689" name="Alt Bilgi Yer Tutucusu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730998150" name="Slayt Numarası Yer Tutucusu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84D4DCB-3A80-4C53-BCF2-00CB79394155}" type="slidenum">
              <a:rPr lang="tr-TR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pattFill prst="pct5">
          <a:fgClr>
            <a:srgbClr val="00B0F0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575311" name="Başlık 1"/>
          <p:cNvSpPr>
            <a:spLocks noGrp="1"/>
          </p:cNvSpPr>
          <p:nvPr>
            <p:ph type="ctrTitle"/>
          </p:nvPr>
        </p:nvSpPr>
        <p:spPr bwMode="auto">
          <a:xfrm>
            <a:off x="1524000" y="1041400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lnSpc>
                <a:spcPct val="100000"/>
              </a:lnSpc>
              <a:defRPr/>
            </a:pPr>
            <a:r>
              <a:rPr lang="tr-TR" sz="6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PatiTakip - Sokak Hayvanları Takip ve Yönetim Sistemi</a:t>
            </a:r>
            <a:endParaRPr/>
          </a:p>
        </p:txBody>
      </p:sp>
      <p:sp>
        <p:nvSpPr>
          <p:cNvPr id="568303936" name="Alt Başlık 2"/>
          <p:cNvSpPr>
            <a:spLocks noGrp="1"/>
          </p:cNvSpPr>
          <p:nvPr>
            <p:ph type="subTitle" idx="1"/>
          </p:nvPr>
        </p:nvSpPr>
        <p:spPr bwMode="auto">
          <a:xfrm>
            <a:off x="1524000" y="4079876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lnSpc>
                <a:spcPct val="120000"/>
              </a:lnSpc>
              <a:defRPr/>
            </a:pPr>
            <a:r>
              <a:rPr lang="tr-TR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Veritabanı Yönetim Sistemleri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tr-TR">
                <a:latin typeface="Times New Roman"/>
                <a:cs typeface="Times New Roman"/>
              </a:rPr>
              <a:t>222804007 – Muhammed Umut Şıbara</a:t>
            </a:r>
            <a:endParaRPr lang="tr-TR">
              <a:latin typeface="Times New Roman"/>
              <a:cs typeface="Times New Roman"/>
            </a:endParaRPr>
          </a:p>
          <a:p>
            <a:pPr>
              <a:lnSpc>
                <a:spcPct val="120000"/>
              </a:lnSpc>
              <a:defRPr/>
            </a:pPr>
            <a:r>
              <a:rPr lang="tr-TR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Doç. Dr. Yusuf ÖZÇEVİK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tr-TR">
                <a:latin typeface="Times New Roman"/>
                <a:cs typeface="Times New Roman"/>
              </a:rPr>
              <a:t>HFTTF – Yazılım Mühendisliği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tr-TR">
                <a:latin typeface="Times New Roman"/>
                <a:cs typeface="Times New Roman"/>
              </a:rPr>
              <a:t>2025</a:t>
            </a:r>
            <a:endParaRPr/>
          </a:p>
        </p:txBody>
      </p:sp>
      <p:pic>
        <p:nvPicPr>
          <p:cNvPr id="275979204" name="Resim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34132" y="213519"/>
            <a:ext cx="2123736" cy="1655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385656" name="Başlık 3"/>
          <p:cNvSpPr>
            <a:spLocks noGrp="1"/>
          </p:cNvSpPr>
          <p:nvPr>
            <p:ph type="title"/>
          </p:nvPr>
        </p:nvSpPr>
        <p:spPr bwMode="auto">
          <a:xfrm>
            <a:off x="839788" y="264160"/>
            <a:ext cx="6323012" cy="51308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Proje </a:t>
            </a:r>
            <a:r>
              <a:rPr lang="tr-TR">
                <a:latin typeface="Times New Roman"/>
                <a:cs typeface="Times New Roman"/>
              </a:rPr>
              <a:t>organizasyonu</a:t>
            </a:r>
            <a:endParaRPr/>
          </a:p>
        </p:txBody>
      </p:sp>
      <p:sp>
        <p:nvSpPr>
          <p:cNvPr id="1075025879" name="Metin Yer Tutucusu 5"/>
          <p:cNvSpPr>
            <a:spLocks noGrp="1"/>
          </p:cNvSpPr>
          <p:nvPr>
            <p:ph type="body" sz="half" idx="2"/>
          </p:nvPr>
        </p:nvSpPr>
        <p:spPr bwMode="auto">
          <a:xfrm>
            <a:off x="839788" y="1016000"/>
            <a:ext cx="3932237" cy="4852988"/>
          </a:xfrm>
        </p:spPr>
        <p:txBody>
          <a:bodyPr>
            <a:normAutofit/>
          </a:bodyPr>
          <a:lstStyle/>
          <a:p>
            <a:pPr marL="1714500" lvl="3" indent="-342900">
              <a:buFont typeface="+mj-lt"/>
              <a:buAutoNum type="arabicPeriod"/>
              <a:defRPr/>
            </a:pPr>
            <a:r>
              <a:rPr lang="tr-TR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 Tanımı</a:t>
            </a:r>
            <a:endParaRPr lang="tr-TR" sz="1600">
              <a:latin typeface="Times New Roman"/>
              <a:cs typeface="Times New Roman"/>
            </a:endParaRPr>
          </a:p>
          <a:p>
            <a:pPr marL="1714500" lvl="3" indent="-342900">
              <a:buFont typeface="+mj-lt"/>
              <a:buAutoNum type="arabicPeriod"/>
              <a:defRPr/>
            </a:pPr>
            <a:r>
              <a:rPr lang="tr-TR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Projenin Amacı</a:t>
            </a:r>
            <a:endParaRPr lang="tr-TR" sz="1600">
              <a:latin typeface="Times New Roman"/>
              <a:cs typeface="Times New Roman"/>
            </a:endParaRPr>
          </a:p>
          <a:p>
            <a:pPr marL="1714500" lvl="3" indent="-342900">
              <a:buFont typeface="+mj-lt"/>
              <a:buAutoNum type="arabicPeriod"/>
              <a:defRPr/>
            </a:pPr>
            <a:r>
              <a:rPr lang="tr-TR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Hedef Kullanıcılar:</a:t>
            </a:r>
            <a:endParaRPr lang="tr-TR" sz="1600">
              <a:latin typeface="Times New Roman"/>
              <a:cs typeface="Times New Roman"/>
            </a:endParaRPr>
          </a:p>
          <a:p>
            <a:pPr marL="1714500" lvl="3" indent="-342900">
              <a:buFont typeface="+mj-lt"/>
              <a:buAutoNum type="arabicPeriod"/>
              <a:defRPr/>
            </a:pPr>
            <a:endParaRPr lang="tr-TR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211014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tr-TR" sz="6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 TANIMI VE AMAÇ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244034" name="Başlık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4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 Tanımı: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03640103" name="İçerik Yer Tutucusu 5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PatiTakip, sokak hayvanlarının takibi, beslenmesi ve sağlık durumlarının 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yönetilmesi için geliştirilmiş bir web tabanlı sistemdir. Kullanıcılar 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harita üzerinde konum bazlı ihbarlar oluşturabilir, hayvanları takip 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edebilir ve gönüllü topluluğu ile etkileşime geçebilir.</a:t>
            </a:r>
            <a:endParaRPr lang="tr-TR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820218" name="Başlık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4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Projenin Amacı: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381886212" name="İçerik Yer Tutucusu 5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Sokak hayvanlarının anlık durumlarını takip etmek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Konum bazlı (enlem/boylam) ihbar sistemi ile hızlı müdahale sağlamak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Gönüllüler arasında etkileşimi artırmak (gamification)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Besleme, sağlık kayıtları ve bağış süreçlerini dijitalleştirmek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Harita tabanlı görselleştirme ile bölgesel analiz yapabilmek</a:t>
            </a:r>
            <a:endParaRPr lang="tr-TR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850222" name="Başlık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4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Hedef Kullanıcılar: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396574074" name="İçerik Yer Tutucusu 5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Sokak hayvanı gönüllüleri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Veteriner klinikleri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Belediye yetkilisi (yönetici rolü)</a:t>
            </a:r>
            <a:endParaRPr lang="tr-TR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Hayvan severler ve bağışçılar</a:t>
            </a:r>
            <a:endParaRPr lang="tr-TR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908400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Kullanıcılar tablosı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379878946" name="Metin Yer Tutucusu 4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lang="tr-TR">
              <a:latin typeface="Times New Roman"/>
              <a:cs typeface="Times New Roman"/>
            </a:endParaRPr>
          </a:p>
        </p:txBody>
      </p:sp>
      <p:sp>
        <p:nvSpPr>
          <p:cNvPr id="1079738915" name="Metin kutusu 7"/>
          <p:cNvSpPr txBox="1"/>
          <p:nvPr/>
        </p:nvSpPr>
        <p:spPr bwMode="auto">
          <a:xfrm flipH="0" flipV="0">
            <a:off x="791445" y="4521953"/>
            <a:ext cx="10564661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>
                <a:latin typeface="Times New Roman"/>
                <a:cs typeface="Times New Roman"/>
              </a:rPr>
              <a:t>Tablo 1. 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Sistemdeki tüm kullanıcıları barındırır. Kullanıcı adı, eposta, rol (gönüllü/yönetici), puan, rütbe, konum ve avatar bilgilerini içerir. Gamification sistemi için puan ve rütbe sütunları kritik öneme sahiptir.</a:t>
            </a:r>
            <a:endParaRPr/>
          </a:p>
        </p:txBody>
      </p:sp>
      <p:pic>
        <p:nvPicPr>
          <p:cNvPr id="2851300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1445" y="2041070"/>
            <a:ext cx="10826224" cy="15662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297849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İhbarlar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783499799" name="Metin kutusu 7"/>
          <p:cNvSpPr txBox="1"/>
          <p:nvPr/>
        </p:nvSpPr>
        <p:spPr bwMode="auto">
          <a:xfrm flipH="0" flipV="0">
            <a:off x="791445" y="4521953"/>
            <a:ext cx="10752152" cy="792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2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Harita üzerinde konum bazlı (enlem/boylam) hayvan ihbarlarını ve sosyal gönderileri tutar. Kategori (İhbar, Besleme, Sahiplendirme), durum (Açık, İşlemde, Çözüldü), beğeni/yorum sayıları, adres ve hayvan türü bilgilerini içerir. Sistemin ana veri kaynağıdır.</a:t>
            </a:r>
            <a:endParaRPr sz="1400"/>
          </a:p>
          <a:p>
            <a:pPr>
              <a:defRPr/>
            </a:pPr>
            <a:endParaRPr/>
          </a:p>
        </p:txBody>
      </p:sp>
      <p:pic>
        <p:nvPicPr>
          <p:cNvPr id="9187808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1113" y="1690687"/>
            <a:ext cx="11421634" cy="1014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867894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Hayvanlar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679236679" name="Metin kutusu 7"/>
          <p:cNvSpPr txBox="1"/>
          <p:nvPr/>
        </p:nvSpPr>
        <p:spPr bwMode="auto">
          <a:xfrm>
            <a:off x="791445" y="4521953"/>
            <a:ext cx="2696313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801841794" name="Metin kutusu 7"/>
          <p:cNvSpPr txBox="1"/>
          <p:nvPr/>
        </p:nvSpPr>
        <p:spPr bwMode="auto">
          <a:xfrm flipH="0" flipV="0">
            <a:off x="791445" y="4521953"/>
            <a:ext cx="8863160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3. 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Sistemde kayıtlı hayvanların profil bilgilerini saklar. İsim, tür, tahmini yaş, fotoğraf URL'si ve açıklama alanlarını içerir. Hayvan türleri tablosu ile ilişkilidir ve sağlık kayıtları bu tabloya bağlanır.</a:t>
            </a:r>
            <a:endParaRPr sz="1400"/>
          </a:p>
        </p:txBody>
      </p:sp>
      <p:pic>
        <p:nvPicPr>
          <p:cNvPr id="7655303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6239" y="1690687"/>
            <a:ext cx="8677274" cy="1133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849227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Hayvanlar türleri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898411962" name="Metin kutusu 7"/>
          <p:cNvSpPr txBox="1"/>
          <p:nvPr/>
        </p:nvSpPr>
        <p:spPr bwMode="auto">
          <a:xfrm>
            <a:off x="791445" y="4521953"/>
            <a:ext cx="269631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46740854" name="Metin kutusu 7"/>
          <p:cNvSpPr txBox="1"/>
          <p:nvPr/>
        </p:nvSpPr>
        <p:spPr bwMode="auto">
          <a:xfrm flipH="0" flipV="0">
            <a:off x="791445" y="4521952"/>
            <a:ext cx="8864600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4.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Hayvan türlerini kategorize eden referans tablosu. Kedi, köpek, kuş gibi türlerin adı ve açıklamasını tutar. Diğer tablolara foreign key ile bağlanır ve veri bütünlüğünü sağlar.</a:t>
            </a:r>
            <a:endParaRPr sz="1400"/>
          </a:p>
        </p:txBody>
      </p:sp>
      <p:pic>
        <p:nvPicPr>
          <p:cNvPr id="59743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1445" y="1610645"/>
            <a:ext cx="5486400" cy="153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048810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Bölgeler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168976626" name="Metin kutusu 7"/>
          <p:cNvSpPr txBox="1"/>
          <p:nvPr/>
        </p:nvSpPr>
        <p:spPr bwMode="auto">
          <a:xfrm>
            <a:off x="791445" y="4521953"/>
            <a:ext cx="269631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932711790" name="Metin kutusu 7"/>
          <p:cNvSpPr txBox="1"/>
          <p:nvPr/>
        </p:nvSpPr>
        <p:spPr bwMode="auto">
          <a:xfrm flipH="0" flipV="0">
            <a:off x="791445" y="4521952"/>
            <a:ext cx="8864600" cy="731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5. 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İstanbul, İzmir, Manisa gibi şehirlerdeki mahalle ve ilçe bilgilerini içerir. Her bölgenin merkez koordinatları (enlem/boylam) bulunur. İhbar ve beslemelerin bölgesel analizinde kullanılır, ancak konum tabanlı sistemde opsiyoneldir.</a:t>
            </a:r>
            <a:endParaRPr sz="1400"/>
          </a:p>
        </p:txBody>
      </p:sp>
      <p:pic>
        <p:nvPicPr>
          <p:cNvPr id="4887098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4474" y="1456764"/>
            <a:ext cx="9477374" cy="262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410256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Saglık kayıtları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984924911" name="Metin kutusu 7"/>
          <p:cNvSpPr txBox="1"/>
          <p:nvPr/>
        </p:nvSpPr>
        <p:spPr bwMode="auto">
          <a:xfrm>
            <a:off x="791445" y="4521953"/>
            <a:ext cx="269631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797533383" name="Metin kutusu 7"/>
          <p:cNvSpPr txBox="1"/>
          <p:nvPr/>
        </p:nvSpPr>
        <p:spPr bwMode="auto">
          <a:xfrm flipH="0" flipV="0">
            <a:off x="791445" y="4521952"/>
            <a:ext cx="8866040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6. 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Hayvanların veteriner müdahale geçmişini tutar. Müdahale türü (aşı, tedavi, operasyon), veteriner notu ve tarih bilgilerini içerir. Hayvanlar tablosuna foreign key ile bağlıdır ve sağlık takibi için kritiktir.</a:t>
            </a:r>
            <a:endParaRPr sz="1400"/>
          </a:p>
        </p:txBody>
      </p:sp>
      <p:pic>
        <p:nvPicPr>
          <p:cNvPr id="2956884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1445" y="1690687"/>
            <a:ext cx="6610349" cy="1457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562140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Beslemeler tablosu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964916387" name="Metin kutusu 7"/>
          <p:cNvSpPr txBox="1"/>
          <p:nvPr/>
        </p:nvSpPr>
        <p:spPr bwMode="auto">
          <a:xfrm>
            <a:off x="791445" y="4521953"/>
            <a:ext cx="269631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83602392" name="Metin kutusu 7"/>
          <p:cNvSpPr txBox="1"/>
          <p:nvPr/>
        </p:nvSpPr>
        <p:spPr bwMode="auto">
          <a:xfrm flipH="0" flipV="0">
            <a:off x="791445" y="4521952"/>
            <a:ext cx="8868200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Tablo 7. </a:t>
            </a:r>
            <a:r>
              <a:rPr lang="tr-TR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Gönüllülerin yaptığı besleme aktivitelerini kaydeder. Kullanıcı, bölge, mama miktarı (kg), mama türü ve besleme zamanı bilgilerini içerir. Gamification sisteminde puan kazandırır ve bölgesel istatistiklerde kullanılır.</a:t>
            </a:r>
            <a:endParaRPr sz="1400"/>
          </a:p>
        </p:txBody>
      </p:sp>
      <p:pic>
        <p:nvPicPr>
          <p:cNvPr id="21141499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9787" y="1736911"/>
            <a:ext cx="9039224" cy="1304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074198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İlişkisel görsel şema (ERD)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979962651" name="Metin kutusu 7"/>
          <p:cNvSpPr txBox="1"/>
          <p:nvPr/>
        </p:nvSpPr>
        <p:spPr bwMode="auto">
          <a:xfrm>
            <a:off x="791445" y="4521953"/>
            <a:ext cx="269631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1436079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26512" y="1456071"/>
            <a:ext cx="5282772" cy="489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78506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>
                <a:latin typeface="Times New Roman"/>
                <a:cs typeface="Times New Roman"/>
              </a:rPr>
              <a:t>Fronend ekran görüntüsü (anasayfa)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653646650" name="Metin kutusu 7"/>
          <p:cNvSpPr txBox="1"/>
          <p:nvPr/>
        </p:nvSpPr>
        <p:spPr bwMode="auto">
          <a:xfrm>
            <a:off x="791444" y="4521952"/>
            <a:ext cx="2696312" cy="366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5466101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43187" y="1690687"/>
            <a:ext cx="2116260" cy="4722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3478" name="Başlık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tr-TR"/>
              <a:t>Kaynakça</a:t>
            </a:r>
            <a:endParaRPr/>
          </a:p>
        </p:txBody>
      </p:sp>
      <p:sp>
        <p:nvSpPr>
          <p:cNvPr id="2135887458" name="İçerik Yer Tutucus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[1] PostgreSQL Global Development Group. (2025). PostgreSQL 15 Documentation.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https://www.postgresql.org/docs/15/index.html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[2] Elmasri, R., &amp; Navathe, S. B. (2016). Fundamentals of Database Systems (7th ed.). Pearson.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[3] Node.js Foundation. (2025). Node.js Documentation.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https://nodejs.org/en/docs/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[4] Express.js Team. (2025). Express.js API Reference.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tr-T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https://expressjs.com/en/api.html</a:t>
            </a:r>
            <a:endParaRPr lang="tr-T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0" indent="0"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4ab77b-6ebf-4ea1-95fd-d7fd9a65aae6" xsi:nil="true"/>
    <lcf76f155ced4ddcb4097134ff3c332f xmlns="87dbed84-ea2d-4c81-9032-b351b004c8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C66BCBAFA9FD94F8D3AE88B09CBDA62" ma:contentTypeVersion="11" ma:contentTypeDescription="Yeni belge oluşturun." ma:contentTypeScope="" ma:versionID="5c6d65bca0098c9f67b324481edb7838">
  <xsd:schema xmlns:xsd="http://www.w3.org/2001/XMLSchema" xmlns:xs="http://www.w3.org/2001/XMLSchema" xmlns:p="http://schemas.microsoft.com/office/2006/metadata/properties" xmlns:ns2="87dbed84-ea2d-4c81-9032-b351b004c82c" xmlns:ns3="a24ab77b-6ebf-4ea1-95fd-d7fd9a65aae6" targetNamespace="http://schemas.microsoft.com/office/2006/metadata/properties" ma:root="true" ma:fieldsID="1b028453ee11600842d1878e55e2ecfb" ns2:_="" ns3:_="">
    <xsd:import namespace="87dbed84-ea2d-4c81-9032-b351b004c82c"/>
    <xsd:import namespace="a24ab77b-6ebf-4ea1-95fd-d7fd9a65aa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bed84-ea2d-4c81-9032-b351b004c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ab77b-6ebf-4ea1-95fd-d7fd9a65aae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9227fdd-dbee-487c-82d5-2f71b21c7659}" ma:internalName="TaxCatchAll" ma:showField="CatchAllData" ma:web="a24ab77b-6ebf-4ea1-95fd-d7fd9a65aa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FEAE1B-5360-42E5-99A5-B826BFFFC3A1}">
  <ds:schemaRefs>
    <ds:schemaRef ds:uri="http://schemas.microsoft.com/office/2006/metadata/properties"/>
    <ds:schemaRef ds:uri="http://www.w3.org/2001/XMLSchema-instance"/>
    <ds:schemaRef ds:uri="http://schemas.microsoft.com/office/infopath/2007/PartnerControls"/>
    <ds:schemaRef ds:uri="a24ab77b-6ebf-4ea1-95fd-d7fd9a65aae6"/>
    <ds:schemaRef ds:uri="87dbed84-ea2d-4c81-9032-b351b004c82c"/>
  </ds:schemaRefs>
</ds:datastoreItem>
</file>

<file path=customXml/itemProps2.xml><?xml version="1.0" encoding="utf-8"?>
<ds:datastoreItem xmlns:ds="http://schemas.openxmlformats.org/officeDocument/2006/customXml" ds:itemID="{DB31CFC4-FF69-4C1E-98F6-1585390A89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A3C9B-22E1-48DF-9B6A-A8B7A0993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bed84-ea2d-4c81-9032-b351b004c82c"/>
    <ds:schemaRef ds:uri="a24ab77b-6ebf-4ea1-95fd-d7fd9a65a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2001/XMLSchema-instance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/>
  <cp:revision>11</cp:revision>
  <dcterms:created xsi:type="dcterms:W3CDTF">2025-12-08T13:02:36Z</dcterms:created>
  <dcterms:modified xsi:type="dcterms:W3CDTF">2025-12-22T21:18:57Z</dcterms:modified>
</cp:coreProperties>
</file>